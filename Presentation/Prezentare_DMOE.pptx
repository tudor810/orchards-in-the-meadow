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rPr lang="en-US" sz="3200" dirty="0"/>
              <a:t>Addressing Extreme Class Imbalance in Satellite Time-Series: A Dynamic Mixture of Experts 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O </a:t>
            </a:r>
            <a:r>
              <a:rPr dirty="0" err="1"/>
              <a:t>abordare</a:t>
            </a:r>
            <a:r>
              <a:rPr dirty="0"/>
              <a:t> </a:t>
            </a:r>
            <a:r>
              <a:rPr dirty="0" err="1"/>
              <a:t>bazată</a:t>
            </a:r>
            <a:r>
              <a:rPr dirty="0"/>
              <a:t> pe Dynamic Mixture of Experts </a:t>
            </a:r>
            <a:r>
              <a:rPr dirty="0" err="1"/>
              <a:t>și</a:t>
            </a:r>
            <a:r>
              <a:rPr dirty="0"/>
              <a:t> Late-Fusion Meta-Classifier</a:t>
            </a:r>
            <a:r>
              <a:rPr lang="en-US" dirty="0"/>
              <a:t>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Problema și Motivația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Obiectiv: Clasificarea ierarhică a culturilor agricole folosind serii de timp satelitare (Sentinel-2).</a:t>
            </a:r>
          </a:p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Provocarea majoră (Class Imbalance): Setul de date este puternic dezechilibrat.</a:t>
            </a:r>
          </a:p>
          <a:p>
            <a:pPr lvl="1">
              <a:defRPr sz="1500">
                <a:solidFill>
                  <a:srgbClr val="333333"/>
                </a:solidFill>
                <a:latin typeface="Calibri"/>
              </a:defRPr>
            </a:pPr>
            <a:r>
              <a:t>Clasele dominante (ex: pajiștile) copleșesc antrenamentul.</a:t>
            </a:r>
          </a:p>
          <a:p>
            <a:pPr lvl="1">
              <a:defRPr sz="1500">
                <a:solidFill>
                  <a:srgbClr val="333333"/>
                </a:solidFill>
                <a:latin typeface="Calibri"/>
              </a:defRPr>
            </a:pPr>
            <a:r>
              <a:t>Clasele rare, cum ar fi livezile, reprezintă sub 0.45% din date.</a:t>
            </a:r>
          </a:p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Limitările modelelor standard (ex: MSResNet monolitic):</a:t>
            </a:r>
          </a:p>
          <a:p>
            <a:pPr lvl="1">
              <a:defRPr sz="1500" b="1">
                <a:solidFill>
                  <a:srgbClr val="333333"/>
                </a:solidFill>
                <a:latin typeface="Calibri"/>
              </a:defRPr>
            </a:pPr>
            <a:r>
              <a:t>Acuratețe globală aparent mare (~80.8%), dar ignoră clasele rare (recall ~16% pe livezi).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2. Baza Teoretică și Lucrări de Referință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  <a:latin typeface="Calibri"/>
              </a:defRPr>
            </a:pPr>
            <a:r>
              <a:t>Seturi de date și Baseline:</a:t>
            </a:r>
          </a:p>
          <a:p>
            <a:pPr lvl="1">
              <a:defRPr sz="1300">
                <a:solidFill>
                  <a:srgbClr val="333333"/>
                </a:solidFill>
                <a:latin typeface="Calibri"/>
              </a:defRPr>
            </a:pPr>
            <a:r>
              <a:t>Rußwurm et al. (2019) – BreizhCrops: Baseline MSResNet și vulnerabilitatea long-tail.</a:t>
            </a:r>
          </a:p>
          <a:p>
            <a:pPr>
              <a:defRPr sz="1600">
                <a:solidFill>
                  <a:srgbClr val="333333"/>
                </a:solidFill>
                <a:latin typeface="Calibri"/>
              </a:defRPr>
            </a:pPr>
            <a:r>
              <a:t>Arhitecturi Temporale Specializate:</a:t>
            </a:r>
          </a:p>
          <a:p>
            <a:pPr lvl="1">
              <a:defRPr sz="1300">
                <a:solidFill>
                  <a:srgbClr val="333333"/>
                </a:solidFill>
                <a:latin typeface="Calibri"/>
              </a:defRPr>
            </a:pPr>
            <a:r>
              <a:t>Garnot et al. (2020) – LTAE &amp; GL-TAE: Atenție temporală pentru fenologie.</a:t>
            </a:r>
          </a:p>
          <a:p>
            <a:pPr>
              <a:defRPr sz="1600">
                <a:solidFill>
                  <a:srgbClr val="333333"/>
                </a:solidFill>
                <a:latin typeface="Calibri"/>
              </a:defRPr>
            </a:pPr>
            <a:r>
              <a:t>Modele Ierarhice (MoE) și Few-Shot:</a:t>
            </a:r>
          </a:p>
          <a:p>
            <a:pPr lvl="1">
              <a:defRPr sz="1300">
                <a:solidFill>
                  <a:srgbClr val="333333"/>
                </a:solidFill>
                <a:latin typeface="Calibri"/>
              </a:defRPr>
            </a:pPr>
            <a:r>
              <a:t>Lu et al. (2024) – Uncertainty Mixture of Experts...: MoE ca soluție SOTA în agricultură.</a:t>
            </a:r>
          </a:p>
          <a:p>
            <a:pPr lvl="1">
              <a:defRPr sz="1300">
                <a:solidFill>
                  <a:srgbClr val="333333"/>
                </a:solidFill>
                <a:latin typeface="Calibri"/>
              </a:defRPr>
            </a:pPr>
            <a:r>
              <a:t>Snell et al. (2017) – Prototypical Networks: Spații metrice pentru clase rare.</a:t>
            </a:r>
          </a:p>
          <a:p>
            <a:pPr>
              <a:defRPr sz="1600">
                <a:solidFill>
                  <a:srgbClr val="333333"/>
                </a:solidFill>
                <a:latin typeface="Calibri"/>
              </a:defRPr>
            </a:pPr>
            <a:r>
              <a:t>Fuziune Tabulară și Priori Fizici:</a:t>
            </a:r>
          </a:p>
          <a:p>
            <a:pPr lvl="1">
              <a:defRPr sz="1300">
                <a:solidFill>
                  <a:srgbClr val="333333"/>
                </a:solidFill>
                <a:latin typeface="Calibri"/>
              </a:defRPr>
            </a:pPr>
            <a:r>
              <a:t>Chen &amp; Guestrin (2016) – XGBoost: Late-fusion cost-sensitive pe date heterogene.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3. Setul de Date: BreizhCrops &amp; Protocolul Regional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defRPr sz="1800" b="1">
                <a:solidFill>
                  <a:srgbClr val="333333"/>
                </a:solidFill>
                <a:latin typeface="Calibri"/>
              </a:defRPr>
            </a:pPr>
            <a:r>
              <a:t>Sursa Datelor: Sentinel-2 L1C (Top of Atmosphere Reflectance).</a:t>
            </a:r>
          </a:p>
          <a:p>
            <a:pPr lvl="1">
              <a:defRPr sz="1500">
                <a:solidFill>
                  <a:srgbClr val="333333"/>
                </a:solidFill>
                <a:latin typeface="Calibri"/>
              </a:defRPr>
            </a:pPr>
            <a:r>
              <a:t>Nivelul L1C reține norii și umbrele. Modelele neurale trebuie să învețe nativ să ignore observațiile bruiate (prin mecanisme de Atenție).</a:t>
            </a:r>
          </a:p>
          <a:p>
            <a:pPr>
              <a:defRPr sz="1800" b="1">
                <a:solidFill>
                  <a:srgbClr val="333333"/>
                </a:solidFill>
                <a:latin typeface="Calibri"/>
              </a:defRPr>
            </a:pPr>
            <a:r>
              <a:t>Structura Intrării: Tensor (Batch, 45 Timesteps, 13 Canale).</a:t>
            </a:r>
          </a:p>
          <a:p>
            <a:pPr>
              <a:defRPr sz="1800" b="1">
                <a:solidFill>
                  <a:srgbClr val="333333"/>
                </a:solidFill>
                <a:latin typeface="Calibri"/>
              </a:defRPr>
            </a:pPr>
            <a:r>
              <a:t>Protocolul de Validare (Regional Generalization):</a:t>
            </a:r>
          </a:p>
          <a:p>
            <a:pPr lvl="1">
              <a:defRPr sz="1500">
                <a:solidFill>
                  <a:srgbClr val="333333"/>
                </a:solidFill>
                <a:latin typeface="Calibri"/>
              </a:defRPr>
            </a:pPr>
            <a:r>
              <a:t>Train: Regiunile frh01, frh02, frh03 (485.649 parcele).</a:t>
            </a:r>
          </a:p>
          <a:p>
            <a:pPr lvl="1">
              <a:defRPr sz="1500">
                <a:solidFill>
                  <a:srgbClr val="333333"/>
                </a:solidFill>
                <a:latin typeface="Calibri"/>
              </a:defRPr>
            </a:pPr>
            <a:r>
              <a:t>Eval (Held-out Test): Regiunea frh04 (122.614 parcele).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4. Ierarhia Claselor și Dezechilibrul Extrem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Ierarhia procesată de model (9 clase globale):</a:t>
            </a:r>
          </a:p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1. Cereale de iarnă: Orz (0), Grâu (1)</a:t>
            </a:r>
          </a:p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2. Culturi terminale: Rapiță (2), Porumb (3)</a:t>
            </a:r>
          </a:p>
          <a:p>
            <a:pPr>
              <a:defRPr sz="1800" b="1">
                <a:solidFill>
                  <a:srgbClr val="333333"/>
                </a:solidFill>
                <a:latin typeface="Calibri"/>
              </a:defRPr>
            </a:pPr>
            <a:r>
              <a:t>3. Pajiști (Clasele Dominante): Perm. (7), Temp. (8)</a:t>
            </a:r>
          </a:p>
          <a:p>
            <a:pPr>
              <a:defRPr sz="1800" b="1">
                <a:solidFill>
                  <a:srgbClr val="333333"/>
                </a:solidFill>
                <a:latin typeface="Calibri"/>
              </a:defRPr>
            </a:pPr>
            <a:r>
              <a:t>4. Clase Minoritare: Floarea-soarelui (4), Livezi (5), Nuci (6)</a:t>
            </a:r>
          </a:p>
          <a:p>
            <a:pPr>
              <a:defRPr sz="1800" b="1">
                <a:solidFill>
                  <a:srgbClr val="333333"/>
                </a:solidFill>
                <a:latin typeface="Calibri"/>
              </a:defRPr>
            </a:pPr>
            <a:r>
              <a:t>Provocarea statistică a proiectului:</a:t>
            </a:r>
          </a:p>
          <a:p>
            <a:pPr lvl="1">
              <a:defRPr sz="1500">
                <a:solidFill>
                  <a:srgbClr val="333333"/>
                </a:solidFill>
                <a:latin typeface="Calibri"/>
              </a:defRPr>
            </a:pPr>
            <a:r>
              <a:t>În regiunea de test (frh04), pajiștile au peste 64.000 de parcele, în timp ce Livezile reprezintă un bottleneck de doar 553 de exemple (~0.45%).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5. Arhitectura Vizuală: Arborele DMOE &amp; Meta-Classifier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2217A-DE8F-C4E0-AE39-DBFEF26F3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433" y="1564555"/>
            <a:ext cx="6951133" cy="4754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6. Justificarea Selecției Arhitecturale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Specializarea modelelor pe baza caracteristicilor claselor:</a:t>
            </a:r>
          </a:p>
          <a:p>
            <a:pPr>
              <a:defRPr sz="1800" b="1">
                <a:solidFill>
                  <a:srgbClr val="333333"/>
                </a:solidFill>
                <a:latin typeface="Calibri"/>
              </a:defRPr>
            </a:pPr>
            <a:r>
              <a:t>Nivelul L2c (Pajiști): Model MSResNet</a:t>
            </a:r>
          </a:p>
          <a:p>
            <a:pPr lvl="1">
              <a:defRPr sz="1500">
                <a:solidFill>
                  <a:srgbClr val="333333"/>
                </a:solidFill>
                <a:latin typeface="Calibri"/>
              </a:defRPr>
            </a:pPr>
            <a:r>
              <a:t>Zeci de mii de parcele. Rețelele reziduale adânci învață limite complexe pe volume mari.</a:t>
            </a:r>
          </a:p>
          <a:p>
            <a:pPr>
              <a:defRPr sz="1800" b="1">
                <a:solidFill>
                  <a:srgbClr val="333333"/>
                </a:solidFill>
                <a:latin typeface="Calibri"/>
              </a:defRPr>
            </a:pPr>
            <a:r>
              <a:t>Nivelurile L2a (Cereale) &amp; L2b: Modele LTAE / GL-TAE</a:t>
            </a:r>
          </a:p>
          <a:p>
            <a:pPr lvl="1">
              <a:defRPr sz="1500">
                <a:solidFill>
                  <a:srgbClr val="333333"/>
                </a:solidFill>
                <a:latin typeface="Calibri"/>
              </a:defRPr>
            </a:pPr>
            <a:r>
              <a:t>Orzul și grâul diferă fenologic extrem de puțin. Modelele extrag strict momentele critice din serii.</a:t>
            </a:r>
          </a:p>
          <a:p>
            <a:pPr>
              <a:defRPr sz="1800" b="1">
                <a:solidFill>
                  <a:srgbClr val="333333"/>
                </a:solidFill>
                <a:latin typeface="Calibri"/>
              </a:defRPr>
            </a:pPr>
            <a:r>
              <a:t>Nivelul L3 (Livezi / Arbori): Model ProtoNet</a:t>
            </a:r>
          </a:p>
          <a:p>
            <a:pPr lvl="1">
              <a:defRPr sz="1500">
                <a:solidFill>
                  <a:srgbClr val="333333"/>
                </a:solidFill>
                <a:latin typeface="Calibri"/>
              </a:defRPr>
            </a:pPr>
            <a:r>
              <a:t>Sub 500 de sample-uri. Calculăm distanțe matematice (metric learning) față de un „prototip ideal”.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7. Limitarea Fuziunii Manuale (Handcrafted DMOE)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Abordarea inițială:</a:t>
            </a:r>
          </a:p>
          <a:p>
            <a:pPr lvl="1">
              <a:defRPr sz="1500">
                <a:solidFill>
                  <a:srgbClr val="333333"/>
                </a:solidFill>
                <a:latin typeface="Calibri"/>
              </a:defRPr>
            </a:pPr>
            <a:r>
              <a:t>Fuziune matematică manuală folosind praguri fixe și înmulțirea probabilităților între nivelurile L1, L2 și L3.</a:t>
            </a:r>
          </a:p>
          <a:p>
            <a:pPr>
              <a:defRPr sz="1800" b="1">
                <a:solidFill>
                  <a:srgbClr val="333333"/>
                </a:solidFill>
                <a:latin typeface="Calibri"/>
              </a:defRPr>
            </a:pPr>
            <a:r>
              <a:t>Problema structurală (Compounding Errors):</a:t>
            </a:r>
          </a:p>
          <a:p>
            <a:pPr lvl="1">
              <a:defRPr sz="1500">
                <a:solidFill>
                  <a:srgbClr val="333333"/>
                </a:solidFill>
                <a:latin typeface="Calibri"/>
              </a:defRPr>
            </a:pPr>
            <a:r>
              <a:t>Dacă L1 greșea o ramură, eroarea se propaga ireversibil în L2. Acuratețea globală a cascadelor a stagnat la ~75-78%.</a:t>
            </a:r>
          </a:p>
          <a:p>
            <a:pPr>
              <a:defRPr sz="1800" b="1">
                <a:solidFill>
                  <a:srgbClr val="333333"/>
                </a:solidFill>
                <a:latin typeface="Calibri"/>
              </a:defRPr>
            </a:pPr>
            <a:r>
              <a:t>Soluția (Extragerea Necondiționată):</a:t>
            </a:r>
          </a:p>
          <a:p>
            <a:pPr lvl="1">
              <a:defRPr sz="1500">
                <a:solidFill>
                  <a:srgbClr val="333333"/>
                </a:solidFill>
                <a:latin typeface="Calibri"/>
              </a:defRPr>
            </a:pPr>
            <a:r>
              <a:t>Decuplarea ierarhiei. Transformarea DMOE dintr-un arbore de decizie strict într-un „Feature Extractor” masiv.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8. Schema Conceptuală: Vectorul de Decizie (64-D)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A6157-FF0B-F0FC-3CBC-34A93EF40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33" y="2222546"/>
            <a:ext cx="7103533" cy="24129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9. Anatomia Matematică a Vectorului (64-D)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Arhitectura</a:t>
            </a:r>
            <a:r>
              <a:rPr dirty="0"/>
              <a:t> Late-Fusion </a:t>
            </a:r>
            <a:r>
              <a:rPr dirty="0" err="1"/>
              <a:t>transformă</a:t>
            </a:r>
            <a:r>
              <a:rPr dirty="0"/>
              <a:t> </a:t>
            </a:r>
            <a:r>
              <a:rPr dirty="0" err="1"/>
              <a:t>predicțiile</a:t>
            </a:r>
            <a:r>
              <a:rPr dirty="0"/>
              <a:t> </a:t>
            </a:r>
            <a:r>
              <a:rPr dirty="0" err="1"/>
              <a:t>neurale</a:t>
            </a:r>
            <a:r>
              <a:rPr dirty="0"/>
              <a:t> </a:t>
            </a:r>
            <a:r>
              <a:rPr dirty="0" err="1"/>
              <a:t>în</a:t>
            </a:r>
            <a:r>
              <a:rPr dirty="0"/>
              <a:t> date </a:t>
            </a:r>
            <a:r>
              <a:rPr dirty="0" err="1"/>
              <a:t>tabulare</a:t>
            </a:r>
            <a:r>
              <a:rPr dirty="0"/>
              <a:t> de </a:t>
            </a:r>
            <a:r>
              <a:rPr dirty="0" err="1"/>
              <a:t>înaltă</a:t>
            </a:r>
            <a:r>
              <a:rPr dirty="0"/>
              <a:t> </a:t>
            </a:r>
            <a:r>
              <a:rPr dirty="0" err="1"/>
              <a:t>precizie</a:t>
            </a:r>
            <a:r>
              <a:rPr dirty="0"/>
              <a:t>:</a:t>
            </a:r>
          </a:p>
          <a:p>
            <a:pPr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dirty="0"/>
              <a:t>1. </a:t>
            </a:r>
            <a:r>
              <a:rPr dirty="0" err="1"/>
              <a:t>Logiții</a:t>
            </a:r>
            <a:r>
              <a:rPr dirty="0"/>
              <a:t> </a:t>
            </a:r>
            <a:r>
              <a:rPr dirty="0" err="1"/>
              <a:t>Bruți</a:t>
            </a:r>
            <a:r>
              <a:rPr dirty="0"/>
              <a:t> ai </a:t>
            </a:r>
            <a:r>
              <a:rPr dirty="0" err="1"/>
              <a:t>Experților</a:t>
            </a:r>
            <a:r>
              <a:rPr dirty="0"/>
              <a:t> (15-D):</a:t>
            </a:r>
          </a:p>
          <a:p>
            <a:pPr lvl="1"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Ieșirile</a:t>
            </a:r>
            <a:r>
              <a:rPr dirty="0"/>
              <a:t> brute (L1, L2a, L2b, L2c, L3) </a:t>
            </a:r>
            <a:r>
              <a:rPr dirty="0" err="1"/>
              <a:t>păstrează</a:t>
            </a:r>
            <a:r>
              <a:rPr dirty="0"/>
              <a:t> </a:t>
            </a:r>
            <a:r>
              <a:rPr dirty="0" err="1"/>
              <a:t>distanța</a:t>
            </a:r>
            <a:r>
              <a:rPr dirty="0"/>
              <a:t> </a:t>
            </a:r>
            <a:r>
              <a:rPr dirty="0" err="1"/>
              <a:t>matematică</a:t>
            </a:r>
            <a:r>
              <a:rPr dirty="0"/>
              <a:t> a </a:t>
            </a:r>
            <a:r>
              <a:rPr dirty="0" err="1"/>
              <a:t>confidenței</a:t>
            </a:r>
            <a:r>
              <a:rPr dirty="0"/>
              <a:t> </a:t>
            </a:r>
            <a:r>
              <a:rPr dirty="0" err="1"/>
              <a:t>înainte</a:t>
            </a:r>
            <a:r>
              <a:rPr dirty="0"/>
              <a:t> de </a:t>
            </a:r>
            <a:r>
              <a:rPr dirty="0" err="1"/>
              <a:t>Softmax</a:t>
            </a:r>
            <a:r>
              <a:rPr dirty="0"/>
              <a:t>.</a:t>
            </a:r>
          </a:p>
          <a:p>
            <a:pPr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dirty="0"/>
              <a:t>2. </a:t>
            </a:r>
            <a:r>
              <a:rPr dirty="0" err="1"/>
              <a:t>Ingineria</a:t>
            </a:r>
            <a:r>
              <a:rPr dirty="0"/>
              <a:t> </a:t>
            </a:r>
            <a:r>
              <a:rPr dirty="0" err="1"/>
              <a:t>Confidenței</a:t>
            </a:r>
            <a:r>
              <a:rPr dirty="0"/>
              <a:t> (</a:t>
            </a:r>
            <a:r>
              <a:rPr dirty="0" err="1"/>
              <a:t>Marginile</a:t>
            </a:r>
            <a:r>
              <a:rPr dirty="0"/>
              <a:t>):</a:t>
            </a:r>
          </a:p>
          <a:p>
            <a:pPr lvl="1"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Pe </a:t>
            </a:r>
            <a:r>
              <a:rPr dirty="0" err="1"/>
              <a:t>lângă</a:t>
            </a:r>
            <a:r>
              <a:rPr dirty="0"/>
              <a:t> </a:t>
            </a:r>
            <a:r>
              <a:rPr dirty="0" err="1"/>
              <a:t>modelele</a:t>
            </a:r>
            <a:r>
              <a:rPr dirty="0"/>
              <a:t> </a:t>
            </a:r>
            <a:r>
              <a:rPr dirty="0" err="1"/>
              <a:t>globale</a:t>
            </a:r>
            <a:r>
              <a:rPr dirty="0"/>
              <a:t>, </a:t>
            </a:r>
            <a:r>
              <a:rPr dirty="0" err="1"/>
              <a:t>extragem</a:t>
            </a:r>
            <a:r>
              <a:rPr dirty="0"/>
              <a:t> </a:t>
            </a:r>
            <a:r>
              <a:rPr dirty="0" err="1"/>
              <a:t>margini</a:t>
            </a:r>
            <a:r>
              <a:rPr dirty="0"/>
              <a:t> </a:t>
            </a:r>
            <a:r>
              <a:rPr dirty="0" err="1"/>
              <a:t>specifice</a:t>
            </a:r>
            <a:r>
              <a:rPr dirty="0"/>
              <a:t> (ex: </a:t>
            </a:r>
            <a:r>
              <a:rPr dirty="0" err="1"/>
              <a:t>diferența</a:t>
            </a:r>
            <a:r>
              <a:rPr dirty="0"/>
              <a:t> de </a:t>
            </a:r>
            <a:r>
              <a:rPr dirty="0" err="1"/>
              <a:t>probabilitate</a:t>
            </a:r>
            <a:r>
              <a:rPr dirty="0"/>
              <a:t> </a:t>
            </a:r>
            <a:r>
              <a:rPr dirty="0" err="1"/>
              <a:t>dintre</a:t>
            </a:r>
            <a:r>
              <a:rPr dirty="0"/>
              <a:t> Orz </a:t>
            </a:r>
            <a:r>
              <a:rPr dirty="0" err="1"/>
              <a:t>și</a:t>
            </a:r>
            <a:r>
              <a:rPr dirty="0"/>
              <a:t> </a:t>
            </a:r>
            <a:r>
              <a:rPr dirty="0" err="1"/>
              <a:t>Grâu</a:t>
            </a:r>
            <a:r>
              <a:rPr dirty="0"/>
              <a:t>) </a:t>
            </a:r>
            <a:r>
              <a:rPr dirty="0" err="1"/>
              <a:t>pentru</a:t>
            </a:r>
            <a:r>
              <a:rPr dirty="0"/>
              <a:t> </a:t>
            </a:r>
            <a:r>
              <a:rPr dirty="0" err="1"/>
              <a:t>departajare</a:t>
            </a:r>
            <a:r>
              <a:rPr dirty="0"/>
              <a:t> </a:t>
            </a:r>
            <a:r>
              <a:rPr dirty="0" err="1"/>
              <a:t>forțată</a:t>
            </a:r>
            <a:r>
              <a:rPr dirty="0"/>
              <a:t>.</a:t>
            </a:r>
          </a:p>
          <a:p>
            <a:pPr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dirty="0"/>
              <a:t>3. </a:t>
            </a:r>
            <a:r>
              <a:rPr dirty="0" err="1"/>
              <a:t>Ancorele</a:t>
            </a:r>
            <a:r>
              <a:rPr dirty="0"/>
              <a:t> </a:t>
            </a:r>
            <a:r>
              <a:rPr dirty="0" err="1"/>
              <a:t>Spațio-Temporale</a:t>
            </a:r>
            <a:r>
              <a:rPr dirty="0"/>
              <a:t> (Metadate 6-D):</a:t>
            </a:r>
          </a:p>
          <a:p>
            <a:pPr lvl="1"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Spațiu</a:t>
            </a:r>
            <a:r>
              <a:rPr dirty="0"/>
              <a:t>: </a:t>
            </a:r>
            <a:r>
              <a:rPr dirty="0" err="1"/>
              <a:t>Amprenta</a:t>
            </a:r>
            <a:r>
              <a:rPr dirty="0"/>
              <a:t> (Area) </a:t>
            </a:r>
            <a:r>
              <a:rPr dirty="0" err="1"/>
              <a:t>și</a:t>
            </a:r>
            <a:r>
              <a:rPr dirty="0"/>
              <a:t> </a:t>
            </a:r>
            <a:r>
              <a:rPr dirty="0" err="1"/>
              <a:t>corecția</a:t>
            </a:r>
            <a:r>
              <a:rPr dirty="0"/>
              <a:t> </a:t>
            </a:r>
            <a:r>
              <a:rPr dirty="0" err="1"/>
              <a:t>climatică</a:t>
            </a:r>
            <a:r>
              <a:rPr dirty="0"/>
              <a:t> (</a:t>
            </a:r>
            <a:r>
              <a:rPr dirty="0" err="1"/>
              <a:t>Latitudine</a:t>
            </a:r>
            <a:r>
              <a:rPr dirty="0"/>
              <a:t>).</a:t>
            </a:r>
          </a:p>
          <a:p>
            <a:pPr lvl="1"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Timp: </a:t>
            </a:r>
            <a:r>
              <a:rPr dirty="0" err="1"/>
              <a:t>Densitatea</a:t>
            </a:r>
            <a:r>
              <a:rPr dirty="0"/>
              <a:t> </a:t>
            </a:r>
            <a:r>
              <a:rPr dirty="0" err="1"/>
              <a:t>biomasei</a:t>
            </a:r>
            <a:r>
              <a:rPr dirty="0"/>
              <a:t> (</a:t>
            </a:r>
            <a:r>
              <a:rPr dirty="0" err="1"/>
              <a:t>max_ndvi</a:t>
            </a:r>
            <a:r>
              <a:rPr dirty="0"/>
              <a:t>) </a:t>
            </a:r>
            <a:r>
              <a:rPr dirty="0" err="1"/>
              <a:t>și</a:t>
            </a:r>
            <a:r>
              <a:rPr dirty="0"/>
              <a:t> </a:t>
            </a:r>
            <a:r>
              <a:rPr dirty="0" err="1"/>
              <a:t>momentul</a:t>
            </a:r>
            <a:r>
              <a:rPr dirty="0"/>
              <a:t> </a:t>
            </a:r>
            <a:r>
              <a:rPr dirty="0" err="1"/>
              <a:t>maturității</a:t>
            </a:r>
            <a:r>
              <a:rPr dirty="0"/>
              <a:t> (</a:t>
            </a:r>
            <a:r>
              <a:rPr dirty="0" err="1"/>
              <a:t>peak_doy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10. Workflow-ul End-to-End de Producție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Arhitectura finală implementată pentru inferență (frh04):</a:t>
            </a:r>
          </a:p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1. Pasarea imaginilor Sentinel-2 prin ramurile neurale înghețate.</a:t>
            </a:r>
          </a:p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2. Extragerea la cerere a features-urilor fizice și calcularea marginilor matematice.</a:t>
            </a:r>
          </a:p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3. Generarea tensorului final de decizie 64-D.</a:t>
            </a:r>
          </a:p>
          <a:p>
            <a:pPr>
              <a:defRPr sz="1800" b="1">
                <a:solidFill>
                  <a:srgbClr val="333333"/>
                </a:solidFill>
                <a:latin typeface="Calibri"/>
              </a:defRPr>
            </a:pPr>
            <a:r>
              <a:t>4. Clasificarea finală prin XGBoost (Late-Fusion).</a:t>
            </a:r>
          </a:p>
          <a:p>
            <a:pPr lvl="1">
              <a:defRPr sz="1500">
                <a:solidFill>
                  <a:srgbClr val="333333"/>
                </a:solidFill>
                <a:latin typeface="Calibri"/>
              </a:defRPr>
            </a:pPr>
            <a:r>
              <a:t>Calibrarea Cost-Sensitive: Am aplicat un multiplicator (m=25) care penalizează agresiv ratarea claselor rare (Livezi) în antrenamentul XGBoost, stabilizând recall-ul.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11. Rezultate Finale (frh04 Regional Protocol)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367119"/>
              </p:ext>
            </p:extLst>
          </p:nvPr>
        </p:nvGraphicFramePr>
        <p:xfrm>
          <a:off x="457200" y="1645920"/>
          <a:ext cx="8229600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Configurație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Acuratețe Globală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Recall Livezi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Status Ținte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Ținte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Proiect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&gt; 80.69%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&gt; 35.00%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Referință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MSResNet</a:t>
                      </a:r>
                      <a:r>
                        <a:rPr dirty="0"/>
                        <a:t> 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>
                          <a:solidFill>
                            <a:srgbClr val="00B050"/>
                          </a:solidFill>
                        </a:rPr>
                        <a:t>80.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70</a:t>
                      </a:r>
                      <a:r>
                        <a:rPr b="1" dirty="0">
                          <a:solidFill>
                            <a:srgbClr val="00B050"/>
                          </a:solidFill>
                        </a:rPr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C0392B"/>
                          </a:solidFill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7.17</a:t>
                      </a:r>
                      <a:r>
                        <a:rPr dirty="0">
                          <a:solidFill>
                            <a:srgbClr val="FF0000"/>
                          </a:solidFill>
                        </a:rPr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Eșec</a:t>
                      </a:r>
                      <a:r>
                        <a:rPr dirty="0"/>
                        <a:t> major (</a:t>
                      </a:r>
                      <a:r>
                        <a:rPr dirty="0" err="1"/>
                        <a:t>Livezi</a:t>
                      </a:r>
                      <a:r>
                        <a:rPr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7621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DMOE 4-tier cascade only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~75–78%</a:t>
                      </a:r>
                      <a:endParaRPr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C0392B"/>
                          </a:solidFill>
                        </a:defRPr>
                      </a:pPr>
                      <a:r>
                        <a:rPr lang="en-US" sz="16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~34%</a:t>
                      </a:r>
                      <a:endParaRPr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 err="1"/>
                        <a:t>Eșec</a:t>
                      </a:r>
                      <a:r>
                        <a:rPr lang="en-US" dirty="0"/>
                        <a:t> major (Acc) + </a:t>
                      </a:r>
                      <a:r>
                        <a:rPr lang="en-US" dirty="0" err="1"/>
                        <a:t>Eșec</a:t>
                      </a:r>
                      <a:r>
                        <a:rPr lang="en-US" dirty="0"/>
                        <a:t> minor (</a:t>
                      </a:r>
                      <a:r>
                        <a:rPr lang="en-US" dirty="0" err="1"/>
                        <a:t>Livezi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7010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E2E joint (best)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~79%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~0-12%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 err="1"/>
                        <a:t>Eșec</a:t>
                      </a:r>
                      <a:r>
                        <a:rPr lang="en-US" dirty="0"/>
                        <a:t> major (</a:t>
                      </a:r>
                      <a:r>
                        <a:rPr lang="en-US" dirty="0" err="1"/>
                        <a:t>Livezi</a:t>
                      </a:r>
                      <a:r>
                        <a:rPr lang="en-US" dirty="0"/>
                        <a:t> + Acc)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338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XGBoost</a:t>
                      </a:r>
                      <a:r>
                        <a:rPr dirty="0"/>
                        <a:t> (58-d Neural, m=40)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80.33%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37.97%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Eșec</a:t>
                      </a:r>
                      <a:r>
                        <a:rPr dirty="0"/>
                        <a:t> minor (Acc)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(64-d 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m=25)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6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76.78%</a:t>
                      </a:r>
                      <a:endParaRPr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600" b="1" i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77.22%</a:t>
                      </a:r>
                      <a:endParaRPr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Trade off acc -&gt; </a:t>
                      </a:r>
                      <a:r>
                        <a:rPr lang="en-US" dirty="0" err="1"/>
                        <a:t>livezi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5133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7AE60"/>
                          </a:solidFill>
                        </a:defRPr>
                      </a:pPr>
                      <a:r>
                        <a:t>XGBoost (64-d Complet, m=25)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7AE60"/>
                          </a:solidFill>
                        </a:defRPr>
                      </a:pPr>
                      <a:r>
                        <a:t>80.76%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7AE60"/>
                          </a:solidFill>
                        </a:defRPr>
                      </a:pPr>
                      <a:r>
                        <a:rPr dirty="0"/>
                        <a:t>35.80%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7AE60"/>
                          </a:solidFill>
                        </a:defRPr>
                      </a:pPr>
                      <a:r>
                        <a:rPr dirty="0"/>
                        <a:t>SUCCES INTEGRAL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Concluzii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1. Meta-Classifiers </a:t>
            </a:r>
            <a:r>
              <a:rPr dirty="0" err="1"/>
              <a:t>rezolvă</a:t>
            </a:r>
            <a:r>
              <a:rPr dirty="0"/>
              <a:t> '</a:t>
            </a:r>
            <a:r>
              <a:rPr dirty="0" err="1"/>
              <a:t>Paradoxul</a:t>
            </a:r>
            <a:r>
              <a:rPr dirty="0"/>
              <a:t> Router-</a:t>
            </a:r>
            <a:r>
              <a:rPr dirty="0" err="1"/>
              <a:t>ului</a:t>
            </a:r>
            <a:r>
              <a:rPr dirty="0"/>
              <a:t>':</a:t>
            </a:r>
          </a:p>
          <a:p>
            <a:pPr lvl="1"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Ierarhiile</a:t>
            </a:r>
            <a:r>
              <a:rPr dirty="0"/>
              <a:t> </a:t>
            </a:r>
            <a:r>
              <a:rPr dirty="0" err="1"/>
              <a:t>stricte</a:t>
            </a:r>
            <a:r>
              <a:rPr dirty="0"/>
              <a:t> </a:t>
            </a:r>
            <a:r>
              <a:rPr dirty="0" err="1"/>
              <a:t>cedează</a:t>
            </a:r>
            <a:r>
              <a:rPr dirty="0"/>
              <a:t> sub propria </a:t>
            </a:r>
            <a:r>
              <a:rPr dirty="0" err="1"/>
              <a:t>complexitate</a:t>
            </a:r>
            <a:r>
              <a:rPr dirty="0"/>
              <a:t> (compounding errors). </a:t>
            </a:r>
            <a:r>
              <a:rPr dirty="0" err="1"/>
              <a:t>Convertirea</a:t>
            </a:r>
            <a:r>
              <a:rPr dirty="0"/>
              <a:t> </a:t>
            </a:r>
            <a:r>
              <a:rPr dirty="0" err="1"/>
              <a:t>experților</a:t>
            </a:r>
            <a:r>
              <a:rPr dirty="0"/>
              <a:t> </a:t>
            </a:r>
            <a:r>
              <a:rPr dirty="0" err="1"/>
              <a:t>în</a:t>
            </a:r>
            <a:r>
              <a:rPr dirty="0"/>
              <a:t> 'feature extractors' </a:t>
            </a:r>
            <a:r>
              <a:rPr dirty="0" err="1"/>
              <a:t>și</a:t>
            </a:r>
            <a:r>
              <a:rPr dirty="0"/>
              <a:t> </a:t>
            </a:r>
            <a:r>
              <a:rPr dirty="0" err="1"/>
              <a:t>lăsarea</a:t>
            </a:r>
            <a:r>
              <a:rPr dirty="0"/>
              <a:t> </a:t>
            </a:r>
            <a:r>
              <a:rPr dirty="0" err="1"/>
              <a:t>unui</a:t>
            </a:r>
            <a:r>
              <a:rPr dirty="0"/>
              <a:t> arbore de </a:t>
            </a:r>
            <a:r>
              <a:rPr dirty="0" err="1"/>
              <a:t>decizie</a:t>
            </a:r>
            <a:r>
              <a:rPr dirty="0"/>
              <a:t> (</a:t>
            </a:r>
            <a:r>
              <a:rPr dirty="0" err="1"/>
              <a:t>XGBoost</a:t>
            </a:r>
            <a:r>
              <a:rPr dirty="0"/>
              <a:t>) </a:t>
            </a:r>
            <a:r>
              <a:rPr dirty="0" err="1"/>
              <a:t>să</a:t>
            </a:r>
            <a:r>
              <a:rPr dirty="0"/>
              <a:t> </a:t>
            </a:r>
            <a:r>
              <a:rPr dirty="0" err="1"/>
              <a:t>analizeze</a:t>
            </a:r>
            <a:r>
              <a:rPr dirty="0"/>
              <a:t> </a:t>
            </a:r>
            <a:r>
              <a:rPr dirty="0" err="1"/>
              <a:t>marginile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o </a:t>
            </a:r>
            <a:r>
              <a:rPr dirty="0" err="1"/>
              <a:t>soluție</a:t>
            </a:r>
            <a:r>
              <a:rPr dirty="0"/>
              <a:t> </a:t>
            </a:r>
            <a:r>
              <a:rPr dirty="0" err="1"/>
              <a:t>superioară</a:t>
            </a:r>
            <a:r>
              <a:rPr dirty="0"/>
              <a:t>.</a:t>
            </a:r>
          </a:p>
          <a:p>
            <a:pPr lvl="1"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Datele</a:t>
            </a:r>
            <a:r>
              <a:rPr dirty="0"/>
              <a:t> </a:t>
            </a:r>
            <a:r>
              <a:rPr dirty="0" err="1"/>
              <a:t>pur</a:t>
            </a:r>
            <a:r>
              <a:rPr dirty="0"/>
              <a:t> </a:t>
            </a:r>
            <a:r>
              <a:rPr dirty="0" err="1"/>
              <a:t>spectrale</a:t>
            </a:r>
            <a:r>
              <a:rPr dirty="0"/>
              <a:t> au </a:t>
            </a:r>
            <a:r>
              <a:rPr dirty="0" err="1"/>
              <a:t>limite</a:t>
            </a:r>
            <a:r>
              <a:rPr dirty="0"/>
              <a:t> </a:t>
            </a:r>
            <a:r>
              <a:rPr dirty="0" err="1"/>
              <a:t>computaționale</a:t>
            </a:r>
            <a:r>
              <a:rPr dirty="0"/>
              <a:t> (ex: </a:t>
            </a:r>
            <a:r>
              <a:rPr dirty="0" err="1"/>
              <a:t>schimbări</a:t>
            </a:r>
            <a:r>
              <a:rPr dirty="0"/>
              <a:t> </a:t>
            </a:r>
            <a:r>
              <a:rPr dirty="0" err="1"/>
              <a:t>climatice</a:t>
            </a:r>
            <a:r>
              <a:rPr dirty="0"/>
              <a:t> </a:t>
            </a:r>
            <a:r>
              <a:rPr dirty="0" err="1"/>
              <a:t>regionale</a:t>
            </a:r>
            <a:r>
              <a:rPr dirty="0"/>
              <a:t>). </a:t>
            </a:r>
            <a:r>
              <a:rPr dirty="0" err="1"/>
              <a:t>Extragerea</a:t>
            </a:r>
            <a:r>
              <a:rPr dirty="0"/>
              <a:t> </a:t>
            </a:r>
            <a:r>
              <a:rPr dirty="0" err="1"/>
              <a:t>Ariei</a:t>
            </a:r>
            <a:r>
              <a:rPr dirty="0"/>
              <a:t> </a:t>
            </a:r>
            <a:r>
              <a:rPr dirty="0" err="1"/>
              <a:t>și</a:t>
            </a:r>
            <a:r>
              <a:rPr dirty="0"/>
              <a:t> a </a:t>
            </a:r>
            <a:r>
              <a:rPr dirty="0" err="1"/>
              <a:t>vârfului</a:t>
            </a:r>
            <a:r>
              <a:rPr dirty="0"/>
              <a:t> </a:t>
            </a:r>
            <a:r>
              <a:rPr dirty="0" err="1"/>
              <a:t>fenologic</a:t>
            </a:r>
            <a:r>
              <a:rPr dirty="0"/>
              <a:t> (DOY) </a:t>
            </a:r>
            <a:r>
              <a:rPr dirty="0" err="1"/>
              <a:t>previne</a:t>
            </a:r>
            <a:r>
              <a:rPr dirty="0"/>
              <a:t> </a:t>
            </a:r>
            <a:r>
              <a:rPr dirty="0" err="1"/>
              <a:t>confuzia</a:t>
            </a:r>
            <a:r>
              <a:rPr dirty="0"/>
              <a:t> </a:t>
            </a:r>
            <a:r>
              <a:rPr dirty="0" err="1"/>
              <a:t>modelului</a:t>
            </a:r>
            <a:r>
              <a:rPr dirty="0"/>
              <a:t> pe date </a:t>
            </a:r>
            <a:r>
              <a:rPr dirty="0" err="1"/>
              <a:t>nevăzute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Bibliografie Selectivă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1. </a:t>
            </a:r>
            <a:r>
              <a:rPr dirty="0" err="1"/>
              <a:t>Rußwurm</a:t>
            </a:r>
            <a:r>
              <a:rPr dirty="0"/>
              <a:t>, M., et al. (2019). </a:t>
            </a:r>
            <a:r>
              <a:rPr dirty="0" err="1"/>
              <a:t>BreizhCrops</a:t>
            </a:r>
            <a:r>
              <a:rPr dirty="0"/>
              <a:t>: A Time Series Dataset for Crop Type Mapping. ISPRS Archives.</a:t>
            </a:r>
          </a:p>
          <a:p>
            <a:pPr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2. Lu, Q., et al. (2024). Uncertainty Mixture of Experts Model for Long Tail Crop Type Mapping. Remote Sensing, 16(6), 1026.</a:t>
            </a:r>
          </a:p>
          <a:p>
            <a:pPr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3. </a:t>
            </a:r>
            <a:r>
              <a:rPr dirty="0" err="1"/>
              <a:t>Garnot</a:t>
            </a:r>
            <a:r>
              <a:rPr dirty="0"/>
              <a:t>, V. S. F., et al. (2020). Satellite Image Time Series Classification with Pixel-Set Encoders and Temporal Self-Attention. CVPR 2020.</a:t>
            </a:r>
          </a:p>
          <a:p>
            <a:pPr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4. Snell, J., Swersky, K., &amp; Zemel, R. (2017). Prototypical Networks for Few-shot Learning. </a:t>
            </a:r>
            <a:r>
              <a:rPr dirty="0" err="1"/>
              <a:t>NeurIPS</a:t>
            </a:r>
            <a:r>
              <a:rPr dirty="0"/>
              <a:t>, 30.</a:t>
            </a:r>
          </a:p>
          <a:p>
            <a:pPr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5. </a:t>
            </a:r>
            <a:r>
              <a:rPr dirty="0" err="1"/>
              <a:t>Bannari</a:t>
            </a:r>
            <a:r>
              <a:rPr dirty="0"/>
              <a:t>, A., et al. (1995). A review of vegetation indices. Remote Sensing Reviews, 13(1-2), 95-120.</a:t>
            </a:r>
          </a:p>
          <a:p>
            <a:pPr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6. Chen, T., &amp; </a:t>
            </a:r>
            <a:r>
              <a:rPr dirty="0" err="1"/>
              <a:t>Guestrin</a:t>
            </a:r>
            <a:r>
              <a:rPr dirty="0"/>
              <a:t>, C. (2016). </a:t>
            </a:r>
            <a:r>
              <a:rPr dirty="0" err="1"/>
              <a:t>XGBoost</a:t>
            </a:r>
            <a:r>
              <a:rPr dirty="0"/>
              <a:t>: A Scalable Tree Boosting System. KDD '16.</a:t>
            </a:r>
            <a:endParaRPr lang="en-US" dirty="0"/>
          </a:p>
          <a:p>
            <a:pPr marL="0" indent="0">
              <a:buNone/>
              <a:defRPr sz="1400">
                <a:solidFill>
                  <a:srgbClr val="333333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1193</Words>
  <Application>Microsoft Office PowerPoint</Application>
  <PresentationFormat>On-screen Show (4:3)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Addressing Extreme Class Imbalance in Satellite Time-Series: A Dynamic Mixture of Experts </vt:lpstr>
      <vt:lpstr>1. Problema și Motivația</vt:lpstr>
      <vt:lpstr>2. Baza Teoretică și Lucrări de Referință</vt:lpstr>
      <vt:lpstr>3. Setul de Date: BreizhCrops &amp; Protocolul Regional</vt:lpstr>
      <vt:lpstr>4. Ierarhia Claselor și Dezechilibrul Extrem</vt:lpstr>
      <vt:lpstr>5. Arhitectura Vizuală: Arborele DMOE &amp; Meta-Classifier</vt:lpstr>
      <vt:lpstr>6. Justificarea Selecției Arhitecturale</vt:lpstr>
      <vt:lpstr>7. Limitarea Fuziunii Manuale (Handcrafted DMOE)</vt:lpstr>
      <vt:lpstr>8. Schema Conceptuală: Vectorul de Decizie (64-D)</vt:lpstr>
      <vt:lpstr>9. Anatomia Matematică a Vectorului (64-D)</vt:lpstr>
      <vt:lpstr>10. Workflow-ul End-to-End de Producție</vt:lpstr>
      <vt:lpstr>11. Rezultate Finale (frh04 Regional Protocol)</vt:lpstr>
      <vt:lpstr>12. Concluzii</vt:lpstr>
      <vt:lpstr>13. Bibliografie Selectivă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Tudor Bodea</cp:lastModifiedBy>
  <cp:revision>3</cp:revision>
  <dcterms:created xsi:type="dcterms:W3CDTF">2013-01-27T09:14:16Z</dcterms:created>
  <dcterms:modified xsi:type="dcterms:W3CDTF">2026-06-24T20:44:28Z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2026-06-24T19:40:22Z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84159a13-4ff5-41de-9f53-59a522f2a33b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